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Prata"/>
      <p:regular r:id="rId17"/>
    </p:embeddedFont>
    <p:embeddedFont>
      <p:font typeface="Raleway"/>
      <p:regular r:id="rId18"/>
    </p:embeddedFont>
    <p:embeddedFont>
      <p:font typeface="Raleway Bold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6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742182"/>
            <a:ext cx="925488" cy="266402"/>
          </a:xfrm>
          <a:prstGeom prst="roundRect">
            <a:avLst>
              <a:gd name="adj" fmla="val 6386"/>
            </a:avLst>
          </a:prstGeom>
          <a:solidFill>
            <a:srgbClr val="443D09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784672"/>
            <a:ext cx="121257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OPENSHIFT AI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2065288"/>
            <a:ext cx="427970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AI Agent on OpenShift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2720876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 intelligent, autonomous monitoring and incident analysis platform built for enterprise-grade OpenShift clusters — delivering real-time observability, anomaly detection, and AI-generated insights at scale.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1871" y="355699"/>
            <a:ext cx="4548857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Operational Challenge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41871" y="918865"/>
            <a:ext cx="4831259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Modern OpenShift clusters generate massive volumes of logs and alerts. Manual monitoring cannot keep pace — leading to delayed responses and costly downtime.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41871" y="1618208"/>
            <a:ext cx="4831259" cy="708050"/>
          </a:xfrm>
          <a:prstGeom prst="roundRect">
            <a:avLst>
              <a:gd name="adj" fmla="val 2675"/>
            </a:avLst>
          </a:prstGeom>
          <a:solidFill>
            <a:srgbClr val="3A3B3C"/>
          </a:solidFill>
          <a:ln/>
        </p:spPr>
      </p:sp>
      <p:sp>
        <p:nvSpPr>
          <p:cNvPr id="6" name="Text 3"/>
          <p:cNvSpPr/>
          <p:nvPr/>
        </p:nvSpPr>
        <p:spPr>
          <a:xfrm>
            <a:off x="568077" y="1744414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Alert Overload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8077" y="2009105"/>
            <a:ext cx="457884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Thousands of alerts and log events daily, with no intelligent prioritisation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41871" y="2438698"/>
            <a:ext cx="4831259" cy="708050"/>
          </a:xfrm>
          <a:prstGeom prst="roundRect">
            <a:avLst>
              <a:gd name="adj" fmla="val 2675"/>
            </a:avLst>
          </a:prstGeom>
          <a:solidFill>
            <a:srgbClr val="3A3B3C"/>
          </a:solidFill>
          <a:ln/>
        </p:spPr>
      </p:sp>
      <p:sp>
        <p:nvSpPr>
          <p:cNvPr id="9" name="Text 6"/>
          <p:cNvSpPr/>
          <p:nvPr/>
        </p:nvSpPr>
        <p:spPr>
          <a:xfrm>
            <a:off x="568077" y="2564904"/>
            <a:ext cx="195798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Slow Root-Cause Analysis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8077" y="2829595"/>
            <a:ext cx="457884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 investigation delays MTTR and increases operational risk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41871" y="3259187"/>
            <a:ext cx="4831259" cy="708050"/>
          </a:xfrm>
          <a:prstGeom prst="roundRect">
            <a:avLst>
              <a:gd name="adj" fmla="val 2675"/>
            </a:avLst>
          </a:prstGeom>
          <a:solidFill>
            <a:srgbClr val="3A3B3C"/>
          </a:solidFill>
          <a:ln/>
        </p:spPr>
      </p:sp>
      <p:sp>
        <p:nvSpPr>
          <p:cNvPr id="12" name="Text 9"/>
          <p:cNvSpPr/>
          <p:nvPr/>
        </p:nvSpPr>
        <p:spPr>
          <a:xfrm>
            <a:off x="568077" y="3385393"/>
            <a:ext cx="207473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Delayed Incident Response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8077" y="3650084"/>
            <a:ext cx="457884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Human-driven workflows cannot match the speed of modern failures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1871" y="4079677"/>
            <a:ext cx="4831259" cy="708050"/>
          </a:xfrm>
          <a:prstGeom prst="roundRect">
            <a:avLst>
              <a:gd name="adj" fmla="val 2675"/>
            </a:avLst>
          </a:prstGeom>
          <a:solidFill>
            <a:srgbClr val="3A3B3C"/>
          </a:solidFill>
          <a:ln/>
        </p:spPr>
      </p:sp>
      <p:sp>
        <p:nvSpPr>
          <p:cNvPr id="15" name="Text 12"/>
          <p:cNvSpPr/>
          <p:nvPr/>
        </p:nvSpPr>
        <p:spPr>
          <a:xfrm>
            <a:off x="568077" y="4205883"/>
            <a:ext cx="210435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No Automated Remediation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8077" y="4470574"/>
            <a:ext cx="457884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Scalable, intelligent monitoring with automated workflows is absent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337021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Solution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2087538"/>
            <a:ext cx="3759622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unified AI-powered platform orchestrates multi-agent workflows, real-time data ingestion, and RAG-based analysis — delivering end-to-end cluster observability with automated alerting and summarisation.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74489" y="2655615"/>
            <a:ext cx="3759622" cy="937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AI-powered monitoring platform with multi-agent orchestration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data ingestion pipeline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RAG-based incident analysis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alerting and summarisation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Dashboard-driven observability</a:t>
            </a:r>
            <a:endParaRPr lang="en-US" sz="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8940"/>
            <a:ext cx="458695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Collection Pipeline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407" y="1175445"/>
            <a:ext cx="6339185" cy="2901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7761" y="3387743"/>
            <a:ext cx="14187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Postgres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27856" y="3387743"/>
            <a:ext cx="1418743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Ingestion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036102" y="3387743"/>
            <a:ext cx="14187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511741" y="3387743"/>
            <a:ext cx="14187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oc CLI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236169"/>
            <a:ext cx="8151763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pipeline connects directly to OpenShift clusters via the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oc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CLI, continuously tracking node health, operator status, and pod metrics. All events are ingested in real time and persisted in PostgreSQL for structured querying and historical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32101" y="373261"/>
            <a:ext cx="4047158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LangChain Agent Pipeline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2101" y="873547"/>
            <a:ext cx="230312" cy="2303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832101" y="1220837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Multi-Step Workflow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3832101" y="1456879"/>
            <a:ext cx="490879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Sequential agent steps execute autonomously — from data retrieval to incident summarisation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2101" y="1978000"/>
            <a:ext cx="230312" cy="2303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832101" y="2325291"/>
            <a:ext cx="1732508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Tool-Calling Architecture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3832101" y="2561332"/>
            <a:ext cx="4908798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Agents invoke specialised tools for cluster queries, log parsing, and metric analysis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32101" y="2915469"/>
            <a:ext cx="230312" cy="2303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832101" y="3262759"/>
            <a:ext cx="1850975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Anomaly Detection Engine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3832101" y="3498800"/>
            <a:ext cx="4908798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Statistical and pattern-based detection identifies deviations before they escalate</a:t>
            </a:r>
            <a:endParaRPr lang="en-US" sz="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32101" y="3852937"/>
            <a:ext cx="230312" cy="23031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832101" y="4200227"/>
            <a:ext cx="1680270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Incident Summarisation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3832101" y="4436269"/>
            <a:ext cx="490879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LLM-generated summaries provide concise, actionable incident reports for on-call engineers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62917"/>
            <a:ext cx="3982194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LangGraph Orchestration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952054"/>
            <a:ext cx="4970190" cy="28164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25071" y="1987972"/>
            <a:ext cx="239360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Stateful, Resilient Workflows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25071" y="2254448"/>
            <a:ext cx="2549054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LangGraph provides a StateGraph-based orchestration layer enabling complex multi-agent coordination with built-in resilience.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674489" y="3970883"/>
            <a:ext cx="1881262" cy="809699"/>
          </a:xfrm>
          <a:prstGeom prst="roundRect">
            <a:avLst>
              <a:gd name="adj" fmla="val 8470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02" y="3970883"/>
            <a:ext cx="57150" cy="80969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4600" y="4098131"/>
            <a:ext cx="154014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StateGraph Workflows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44600" y="4328592"/>
            <a:ext cx="1583903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Typed state management across all agent steps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2645718" y="3970883"/>
            <a:ext cx="1881262" cy="809699"/>
          </a:xfrm>
          <a:prstGeom prst="roundRect">
            <a:avLst>
              <a:gd name="adj" fmla="val 8470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430" y="3970883"/>
            <a:ext cx="57150" cy="80969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815828" y="4098131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Conditional Routing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2815828" y="4328592"/>
            <a:ext cx="1583903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Dynamic branching based on anomaly severity and context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4616946" y="3970883"/>
            <a:ext cx="1881262" cy="809699"/>
          </a:xfrm>
          <a:prstGeom prst="roundRect">
            <a:avLst>
              <a:gd name="adj" fmla="val 8470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2659" y="3970883"/>
            <a:ext cx="57150" cy="80969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87057" y="4098131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Parallel Detection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787057" y="4328592"/>
            <a:ext cx="1583903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Concurrent agent execution for faster analysis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6588175" y="3970883"/>
            <a:ext cx="1881262" cy="809699"/>
          </a:xfrm>
          <a:prstGeom prst="roundRect">
            <a:avLst>
              <a:gd name="adj" fmla="val 8470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3887" y="3970883"/>
            <a:ext cx="57150" cy="80969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758285" y="4098131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Reflection &amp; Retry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6758285" y="4328592"/>
            <a:ext cx="1583903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Self-correcting loops ensure reliable outcomes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029" y="320204"/>
            <a:ext cx="3782467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RAG &amp; Root-Cause Analysis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33029" y="2025328"/>
            <a:ext cx="2064395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Context-Aware Intelligence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33029" y="2251025"/>
            <a:ext cx="3317304" cy="679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RAG engine leverages </a:t>
            </a:r>
            <a:pPr algn="l" indent="0" marL="0">
              <a:lnSpc>
                <a:spcPct val="114000"/>
              </a:lnSpc>
              <a:buNone/>
            </a:pPr>
            <a:r>
              <a:rPr lang="en-US" sz="7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Qdrant</a:t>
            </a:r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a high-performance vector database, to retrieve historical incidents and runbooks. Semantic similarity search matches current anomalies against known patterns, enabling the LLM to generate precise root-cause hypotheses and troubleshooting guidance.</a:t>
            </a:r>
            <a:endParaRPr lang="en-US" sz="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8281" y="815578"/>
            <a:ext cx="3317304" cy="331730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281" y="815578"/>
            <a:ext cx="3317304" cy="331730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133029" y="4290492"/>
            <a:ext cx="2245891" cy="532805"/>
          </a:xfrm>
          <a:prstGeom prst="roundRect">
            <a:avLst>
              <a:gd name="adj" fmla="val 2806"/>
            </a:avLst>
          </a:prstGeom>
          <a:solidFill>
            <a:srgbClr val="3A3B3C"/>
          </a:solidFill>
          <a:ln/>
        </p:spPr>
      </p:sp>
      <p:sp>
        <p:nvSpPr>
          <p:cNvPr id="8" name="Text 4"/>
          <p:cNvSpPr/>
          <p:nvPr/>
        </p:nvSpPr>
        <p:spPr>
          <a:xfrm>
            <a:off x="1232669" y="4390132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Vector Store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232669" y="4587850"/>
            <a:ext cx="2046610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Qdrant with dense embeddings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3448943" y="4290492"/>
            <a:ext cx="2245965" cy="532805"/>
          </a:xfrm>
          <a:prstGeom prst="roundRect">
            <a:avLst>
              <a:gd name="adj" fmla="val 2806"/>
            </a:avLst>
          </a:prstGeom>
          <a:solidFill>
            <a:srgbClr val="3A3B3C"/>
          </a:solidFill>
          <a:ln/>
        </p:spPr>
      </p:sp>
      <p:sp>
        <p:nvSpPr>
          <p:cNvPr id="11" name="Text 7"/>
          <p:cNvSpPr/>
          <p:nvPr/>
        </p:nvSpPr>
        <p:spPr>
          <a:xfrm>
            <a:off x="3548583" y="4390132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Semantic Search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548583" y="4587850"/>
            <a:ext cx="2046684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Similarity matching over incidents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5764932" y="4290492"/>
            <a:ext cx="2245965" cy="532805"/>
          </a:xfrm>
          <a:prstGeom prst="roundRect">
            <a:avLst>
              <a:gd name="adj" fmla="val 2806"/>
            </a:avLst>
          </a:prstGeom>
          <a:solidFill>
            <a:srgbClr val="3A3B3C"/>
          </a:solidFill>
          <a:ln/>
        </p:spPr>
      </p:sp>
      <p:sp>
        <p:nvSpPr>
          <p:cNvPr id="14" name="Text 10"/>
          <p:cNvSpPr/>
          <p:nvPr/>
        </p:nvSpPr>
        <p:spPr>
          <a:xfrm>
            <a:off x="5864572" y="4390132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AI Insights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864572" y="4587850"/>
            <a:ext cx="2046684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Generated troubleshooting steps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4132" y="411584"/>
            <a:ext cx="480588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Deployment &amp; Infrastructure</a:t>
            </a:r>
            <a:endParaRPr lang="en-US" sz="2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32" y="961876"/>
            <a:ext cx="620167" cy="7442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794" y="108585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Docker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1162794" y="1344811"/>
            <a:ext cx="411807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Containerised agent services with isolated dependencies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32" y="1706091"/>
            <a:ext cx="620167" cy="7442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62794" y="183006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162794" y="2089026"/>
            <a:ext cx="411807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Orchestrated deployment with auto-scaling and health probes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132" y="2450306"/>
            <a:ext cx="620167" cy="7442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62794" y="257428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OpenShift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1162794" y="2833241"/>
            <a:ext cx="411807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YAML-configured workloads, Routes, and SecurityContextConstraints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132" y="3194521"/>
            <a:ext cx="620167" cy="74421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62794" y="331849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OpenShift AI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1162794" y="3577456"/>
            <a:ext cx="411807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On-premise LLM inference with GPU acceleration support</a:t>
            </a:r>
            <a:endParaRPr lang="en-US" sz="950" dirty="0"/>
          </a:p>
        </p:txBody>
      </p:sp>
      <p:sp>
        <p:nvSpPr>
          <p:cNvPr id="16" name="Shape 9"/>
          <p:cNvSpPr/>
          <p:nvPr/>
        </p:nvSpPr>
        <p:spPr>
          <a:xfrm>
            <a:off x="434132" y="4060775"/>
            <a:ext cx="4846737" cy="671140"/>
          </a:xfrm>
          <a:prstGeom prst="roundRect">
            <a:avLst>
              <a:gd name="adj" fmla="val 2772"/>
            </a:avLst>
          </a:prstGeom>
          <a:solidFill>
            <a:srgbClr val="022349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105" y="4240560"/>
            <a:ext cx="155004" cy="12397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37084" y="4200227"/>
            <a:ext cx="4319811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architecture is production-ready, supporting air-gapped deployments and on-premise LLM inference for data-residency compliance.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75345"/>
            <a:ext cx="3999607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Dashboard &amp; Monitoring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643" y="997297"/>
            <a:ext cx="5165154" cy="2926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7905" y="1896070"/>
            <a:ext cx="1947863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Operational Visibility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977905" y="2176686"/>
            <a:ext cx="2649066" cy="858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unified dashboard surfaces real-time cluster health, AI-generated incident summaries, and alert visualisations — giving SRE and platform teams a single pane of glass for decision-making.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21643" y="4142780"/>
            <a:ext cx="264096" cy="264096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sp>
        <p:nvSpPr>
          <p:cNvPr id="7" name="Text 4"/>
          <p:cNvSpPr/>
          <p:nvPr/>
        </p:nvSpPr>
        <p:spPr>
          <a:xfrm>
            <a:off x="882923" y="4183112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Live Cluster Health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82923" y="4424809"/>
            <a:ext cx="2257871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node, operator, and workload status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62313" y="4142780"/>
            <a:ext cx="264096" cy="264096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sp>
        <p:nvSpPr>
          <p:cNvPr id="10" name="Text 7"/>
          <p:cNvSpPr/>
          <p:nvPr/>
        </p:nvSpPr>
        <p:spPr>
          <a:xfrm>
            <a:off x="3623593" y="4183112"/>
            <a:ext cx="180335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AI-Generated Summaries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623593" y="4424809"/>
            <a:ext cx="2257946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Natural-language incident briefs for rapid triage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003057" y="4142780"/>
            <a:ext cx="264096" cy="264096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sp>
        <p:nvSpPr>
          <p:cNvPr id="13" name="Text 10"/>
          <p:cNvSpPr/>
          <p:nvPr/>
        </p:nvSpPr>
        <p:spPr>
          <a:xfrm>
            <a:off x="6364337" y="4183112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Incident Tracking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364337" y="4424809"/>
            <a:ext cx="2257871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End-to-end lifecycle management with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97594"/>
            <a:ext cx="4217938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Tech Stack &amp; Outcomes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349" y="1107132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Technologies Used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349" y="1446758"/>
            <a:ext cx="1917353" cy="465460"/>
          </a:xfrm>
          <a:prstGeom prst="roundRect">
            <a:avLst>
              <a:gd name="adj" fmla="val 67387"/>
            </a:avLst>
          </a:prstGeom>
          <a:solidFill>
            <a:srgbClr val="3A3B3C"/>
          </a:solidFill>
          <a:ln/>
        </p:spPr>
      </p:sp>
      <p:sp>
        <p:nvSpPr>
          <p:cNvPr id="5" name="Text 3"/>
          <p:cNvSpPr/>
          <p:nvPr/>
        </p:nvSpPr>
        <p:spPr>
          <a:xfrm>
            <a:off x="588020" y="1577429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LangChain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95178" y="1446758"/>
            <a:ext cx="1917427" cy="465460"/>
          </a:xfrm>
          <a:prstGeom prst="roundRect">
            <a:avLst>
              <a:gd name="adj" fmla="val 67387"/>
            </a:avLst>
          </a:prstGeom>
          <a:solidFill>
            <a:srgbClr val="3A3B3C"/>
          </a:solidFill>
          <a:ln/>
        </p:spPr>
      </p:sp>
      <p:sp>
        <p:nvSpPr>
          <p:cNvPr id="7" name="Text 5"/>
          <p:cNvSpPr/>
          <p:nvPr/>
        </p:nvSpPr>
        <p:spPr>
          <a:xfrm>
            <a:off x="2625849" y="1577429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LangGraph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349" y="2032695"/>
            <a:ext cx="1917353" cy="465460"/>
          </a:xfrm>
          <a:prstGeom prst="roundRect">
            <a:avLst>
              <a:gd name="adj" fmla="val 67387"/>
            </a:avLst>
          </a:prstGeom>
          <a:solidFill>
            <a:srgbClr val="3A3B3C"/>
          </a:solidFill>
          <a:ln/>
        </p:spPr>
      </p:sp>
      <p:sp>
        <p:nvSpPr>
          <p:cNvPr id="9" name="Text 7"/>
          <p:cNvSpPr/>
          <p:nvPr/>
        </p:nvSpPr>
        <p:spPr>
          <a:xfrm>
            <a:off x="588020" y="2163366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LlamaIndex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495178" y="2032695"/>
            <a:ext cx="1917427" cy="465460"/>
          </a:xfrm>
          <a:prstGeom prst="roundRect">
            <a:avLst>
              <a:gd name="adj" fmla="val 67387"/>
            </a:avLst>
          </a:prstGeom>
          <a:solidFill>
            <a:srgbClr val="3A3B3C"/>
          </a:solidFill>
          <a:ln/>
        </p:spPr>
      </p:sp>
      <p:sp>
        <p:nvSpPr>
          <p:cNvPr id="11" name="Text 9"/>
          <p:cNvSpPr/>
          <p:nvPr/>
        </p:nvSpPr>
        <p:spPr>
          <a:xfrm>
            <a:off x="2625849" y="2163366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Qdrant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349" y="2618631"/>
            <a:ext cx="1917353" cy="465460"/>
          </a:xfrm>
          <a:prstGeom prst="roundRect">
            <a:avLst>
              <a:gd name="adj" fmla="val 67387"/>
            </a:avLst>
          </a:prstGeom>
          <a:solidFill>
            <a:srgbClr val="3A3B3C"/>
          </a:solidFill>
          <a:ln/>
        </p:spPr>
      </p:sp>
      <p:sp>
        <p:nvSpPr>
          <p:cNvPr id="13" name="Text 11"/>
          <p:cNvSpPr/>
          <p:nvPr/>
        </p:nvSpPr>
        <p:spPr>
          <a:xfrm>
            <a:off x="588020" y="2749302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495178" y="2618631"/>
            <a:ext cx="1917427" cy="465460"/>
          </a:xfrm>
          <a:prstGeom prst="roundRect">
            <a:avLst>
              <a:gd name="adj" fmla="val 67387"/>
            </a:avLst>
          </a:prstGeom>
          <a:solidFill>
            <a:srgbClr val="3A3B3C"/>
          </a:solidFill>
          <a:ln/>
        </p:spPr>
      </p:sp>
      <p:sp>
        <p:nvSpPr>
          <p:cNvPr id="15" name="Text 13"/>
          <p:cNvSpPr/>
          <p:nvPr/>
        </p:nvSpPr>
        <p:spPr>
          <a:xfrm>
            <a:off x="2625849" y="2749302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OpenShift AI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349" y="3204567"/>
            <a:ext cx="1917353" cy="669578"/>
          </a:xfrm>
          <a:prstGeom prst="roundRect">
            <a:avLst>
              <a:gd name="adj" fmla="val 46844"/>
            </a:avLst>
          </a:prstGeom>
          <a:solidFill>
            <a:srgbClr val="3A3B3C"/>
          </a:solidFill>
          <a:ln/>
        </p:spPr>
      </p:sp>
      <p:sp>
        <p:nvSpPr>
          <p:cNvPr id="17" name="Text 15"/>
          <p:cNvSpPr/>
          <p:nvPr/>
        </p:nvSpPr>
        <p:spPr>
          <a:xfrm>
            <a:off x="588020" y="3335238"/>
            <a:ext cx="1656011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Docker &amp; Kubernetes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495178" y="3204567"/>
            <a:ext cx="1917427" cy="669578"/>
          </a:xfrm>
          <a:prstGeom prst="roundRect">
            <a:avLst>
              <a:gd name="adj" fmla="val 46844"/>
            </a:avLst>
          </a:prstGeom>
          <a:solidFill>
            <a:srgbClr val="3A3B3C"/>
          </a:solidFill>
          <a:ln/>
        </p:spPr>
      </p:sp>
      <p:sp>
        <p:nvSpPr>
          <p:cNvPr id="19" name="Text 17"/>
          <p:cNvSpPr/>
          <p:nvPr/>
        </p:nvSpPr>
        <p:spPr>
          <a:xfrm>
            <a:off x="2625849" y="3335238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Python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36157" y="1107132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Project Outcomes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36157" y="1446758"/>
            <a:ext cx="1917353" cy="1421160"/>
          </a:xfrm>
          <a:prstGeom prst="roundRect">
            <a:avLst>
              <a:gd name="adj" fmla="val 4826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1870" y="1446758"/>
            <a:ext cx="57150" cy="14211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923979" y="1591717"/>
            <a:ext cx="158457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Faster Detection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923979" y="1916311"/>
            <a:ext cx="158457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AI-driven anomaly detection reduces mean time to detect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773987" y="1446758"/>
            <a:ext cx="1917427" cy="1421160"/>
          </a:xfrm>
          <a:prstGeom prst="roundRect">
            <a:avLst>
              <a:gd name="adj" fmla="val 4826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699" y="1446758"/>
            <a:ext cx="57150" cy="142116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961808" y="1591717"/>
            <a:ext cx="1584647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Automated Workflows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6961808" y="2120429"/>
            <a:ext cx="1584647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End-to-end monitoring pipelines eliminate manual toil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736157" y="2988394"/>
            <a:ext cx="1917353" cy="1622003"/>
          </a:xfrm>
          <a:prstGeom prst="roundRect">
            <a:avLst>
              <a:gd name="adj" fmla="val 4228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870" y="2988394"/>
            <a:ext cx="57150" cy="162200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923979" y="3133353"/>
            <a:ext cx="1584573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Better Root-Cause Analysis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4923979" y="3662065"/>
            <a:ext cx="158457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RAG-powered insights accelerate MTTR significantly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773987" y="2988394"/>
            <a:ext cx="1917427" cy="1622003"/>
          </a:xfrm>
          <a:prstGeom prst="roundRect">
            <a:avLst>
              <a:gd name="adj" fmla="val 4228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699" y="2988394"/>
            <a:ext cx="57150" cy="1622003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961808" y="3133353"/>
            <a:ext cx="1584647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Scalable Enterprise AI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6961808" y="3662065"/>
            <a:ext cx="1584647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Production-grade architecture ready for large-scale OpenShift fleets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2026-05-27T09:27:29Z</dcterms:created>
  <dcterms:modified xsi:type="dcterms:W3CDTF">2026-05-27T09:27:29Z</dcterms:modified>
</cp:coreProperties>
</file>